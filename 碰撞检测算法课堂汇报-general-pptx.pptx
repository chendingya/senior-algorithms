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184" autoAdjust="0"/>
  </p:normalViewPr>
  <p:slideViewPr>
    <p:cSldViewPr snapToGrid="0" snapToObjects="1">
      <p:cViewPr varScale="1">
        <p:scale>
          <a:sx n="107" d="100"/>
          <a:sy n="107" d="100"/>
        </p:scale>
        <p:origin x="56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1204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游戏中的碰撞检测算法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从四叉树到 GJK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2011680"/>
            <a:ext cx="9144000" cy="36576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高级算法  课堂汇报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汇报人：曹涵兮  徐子豪  陈鼎亚  刘昊  耿瑞林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2026年3月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动画素材来源：https://github.com/MarcWebber/Collision-Algos-Demo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引言：碰撞检测问题从何而来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3474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穿模背后的算法问题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场景有 N 个对象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暴力两两检测 → O(N²) 复杂度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N=10000 → 约5000万次比较/帧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实时渲染中完全不可接受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347472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核心挑战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不是两个物体能不能碰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而是谁值得进入下一轮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20640" y="2743200"/>
            <a:ext cx="3474720" cy="4572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2743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N个对象 → 粗筛 → 候选对 → 精算 → 碰撞对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663440"/>
            <a:ext cx="8412480" cy="36576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游戏算法千千万，碰撞检测很难办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碰撞检测问题的形式化定义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146304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731520" cy="274320"/>
          </a:xfrm>
          <a:prstGeom prst="rect">
            <a:avLst/>
          </a:prstGeom>
          <a:solidFill>
            <a:srgbClr val="2E5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11887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场景中 N 个物体 {O₁, O₂, ..., Oₙ}，每个物体有几何形状和位置信息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731520" cy="274320"/>
          </a:xfrm>
          <a:prstGeom prst="rect">
            <a:avLst/>
          </a:prstGeom>
          <a:solidFill>
            <a:srgbClr val="E891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16459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所有发生碰撞的物体对集合 {(Oᵢ, Oⱼ) | Oᵢ ∩ Oⱼ ≠ ∅}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32004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2926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粗筛阶段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Phase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四叉树 / SAP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N个物体 → 候选对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23360" y="3474720"/>
            <a:ext cx="1097280" cy="0"/>
          </a:xfrm>
          <a:prstGeom prst="line">
            <a:avLst/>
          </a:prstGeom>
          <a:noFill/>
          <a:ln w="25400">
            <a:solidFill>
              <a:srgbClr val="E891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候选对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12080" y="2926080"/>
            <a:ext cx="32004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12080" y="2926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精算阶段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Phase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GJK / SAT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候选对 → 碰撞对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粗筛缩范围，精算给结论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四叉树（Quadtree）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分治空间，化整为零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713232" cy="274320"/>
          </a:xfrm>
          <a:prstGeom prst="rect">
            <a:avLst/>
          </a:prstGeom>
          <a:solidFill>
            <a:srgbClr val="3AAB8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分治法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63040"/>
            <a:ext cx="54864" cy="329184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空间分裂示意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011680"/>
            <a:ext cx="2743200" cy="2194560"/>
          </a:xfrm>
          <a:prstGeom prst="rect">
            <a:avLst/>
          </a:prstGeom>
          <a:noFill/>
          <a:ln w="19050">
            <a:solidFill>
              <a:srgbClr val="2E5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108960"/>
            <a:ext cx="2743200" cy="0"/>
          </a:xfrm>
          <a:prstGeom prst="line">
            <a:avLst/>
          </a:prstGeom>
          <a:noFill/>
          <a:ln w="12700">
            <a:solidFill>
              <a:srgbClr val="2E5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2011680"/>
            <a:ext cx="0" cy="2194560"/>
          </a:xfrm>
          <a:prstGeom prst="line">
            <a:avLst/>
          </a:prstGeom>
          <a:noFill/>
          <a:ln w="12700">
            <a:solidFill>
              <a:srgbClr val="2E5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057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整个2D地图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377440" y="2057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超阈值 → 分裂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05840" y="3154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递归分裂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0" y="1463040"/>
            <a:ext cx="42062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463040"/>
            <a:ext cx="54864" cy="329184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核心思想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201168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类似把地图分区，每个区域配一个管理员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对象少的区域不浪费计算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对象密的区域自动细分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572000"/>
          <a:ext cx="8412480" cy="4876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核心动作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设计策略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适用场景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不适用场景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递归分裂空间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分治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2D偏静态、分布稀疏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高动态、对象密集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四叉树 —— 算法流程与复杂度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5720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38404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伪代码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插入操作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Insert(node, obj):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node.count &lt; MAX_CAPACITY: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node.objects.add(obj); return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not node.isDivided: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node.Subdivide()  // 分裂为4个子节点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child in node.children: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child.boundary.contains(obj):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Insert(child, obj); return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范围查询操作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Query(node, range, results):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not node.intersects(range):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 // 剪枝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obj in node.objects: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range.contains(obj): results.add(obj)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node.isDivided: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child in node.children: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Query(child, range, results)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20640" y="1097280"/>
            <a:ext cx="36576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20640" y="1097280"/>
            <a:ext cx="54864" cy="384048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复杂度分析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554480"/>
          <a:ext cx="3291840" cy="1371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操作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最好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平均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最坏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构建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O(n log n)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O(n log n)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O(n²)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单次查询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O(log n)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O(log n)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O(n)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全场景检测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O(n log n)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O(n log n)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O(n²)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303520" y="310896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最坏情况说明：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所有对象重叠在同一区域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树退化为链表 → O(n²)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关键依赖：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对象分布是否均匀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阈值 MAX_CAPACITY 的选取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四叉树 —— 正确性与优劣取舍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2062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3291840"/>
          </a:xfrm>
          <a:prstGeom prst="rect">
            <a:avLst/>
          </a:prstGeom>
          <a:solidFill>
            <a:srgbClr val="3AAB8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正确性说明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不变量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每个对象一定存储在某个叶节点（或未分裂节点）中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空间完备性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四个子节点的区域之和 = 父节点区域，无遗漏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查询正确性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对象在查询范围内 → 所在叶节点一定与查询范围相交 → 一定会被找到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329184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优劣对比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645920"/>
          <a:ext cx="3657600" cy="16459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✓ 优势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✗ 劣势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结构直观，适合二维空间查询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对象频繁移动时，树需反复维护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稀疏场景下显著减少比较次数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极端分布下树深膨胀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实现简单，易于理解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仅适用于2D（3D需八叉树）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静态地图、动态对象少 → 四叉树是好选择；高动态场景 → 需要其他方案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and Prune（SAP）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降维打击，排序复用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737360" cy="27432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降维 + 时间局部性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5120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63040"/>
            <a:ext cx="54864" cy="182880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54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核心思想图解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920240"/>
            <a:ext cx="1371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65960"/>
            <a:ext cx="1371600" cy="228600"/>
          </a:xfrm>
          <a:prstGeom prst="rect">
            <a:avLst/>
          </a:prstGeom>
          <a:solidFill>
            <a:srgbClr val="2E5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1945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取AABB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投影到X轴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1945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194560" y="1920240"/>
            <a:ext cx="1371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1965960"/>
            <a:ext cx="1371600" cy="228600"/>
          </a:xfrm>
          <a:prstGeom prst="rect">
            <a:avLst/>
          </a:prstGeom>
          <a:solidFill>
            <a:srgbClr val="2E5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94560" y="21945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按左端点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21945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840480" y="1920240"/>
            <a:ext cx="1371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1965960"/>
            <a:ext cx="1371600" cy="228600"/>
          </a:xfrm>
          <a:prstGeom prst="rect">
            <a:avLst/>
          </a:prstGeom>
          <a:solidFill>
            <a:srgbClr val="2E5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0" y="21945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从左扫描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重叠=候选对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0" y="1463040"/>
            <a:ext cx="3108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0" y="1463040"/>
            <a:ext cx="54864" cy="1828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关键洞察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52160" y="19202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帧间位置变化很小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排序顺序几乎不变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插入排序接近O(n)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这就是时间局部性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474720"/>
            <a:ext cx="8412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474720"/>
            <a:ext cx="54864" cy="1463040"/>
          </a:xfrm>
          <a:prstGeom prst="rect">
            <a:avLst/>
          </a:prstGeom>
          <a:solidFill>
            <a:srgbClr val="3AAB8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核心优化原理 —— 不等式传递性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3931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若已知 A.right ≤ B.left  且  B.right ≤ C.left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由传递性：A.right ≤ C.left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无需检测 A 与 C，直接跳过！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—— 算法流程与复杂度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5720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38404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伪代码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SweepAndPrune(objects):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1. 沿X轴按AABB最小X坐标排序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Sort(objects, key=aabb.minX)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首次：快排；后续帧：插入排序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candidates = 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2. 从左到右扫描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i = 0 to n-1: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= i+1 to n-1: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3. 剪枝：后续对象minX&gt;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   当前maxX → 后面都不重叠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objects[j].minX 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objects[i].maxX: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8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4. X轴重叠 → 检查Y轴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AABBOverlap(...):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candidates.add(...)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20640" y="1097280"/>
            <a:ext cx="36576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20640" y="1097280"/>
            <a:ext cx="54864" cy="384048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复杂度分析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554480"/>
          <a:ext cx="3291840" cy="16459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操作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最好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平均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最坏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首次排序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O(n log n)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O(n log n)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O(n log n)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后续帧排序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O(n)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O(n)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O(n log n)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扫描候选对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O(n)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O(n+m)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O(n²)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全场景(后续)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O(n)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O(n+m)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O(n²)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303520" y="32918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注：m = 重叠区间对数</a:t>
            </a:r>
            <a:endParaRPr lang="en-US" sz="10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复杂度与输出规模挂钩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(output-sensitive)</a:t>
            </a:r>
            <a:endParaRPr lang="en-US" sz="10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碰撞对越少越快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—— 正确性分析与适用边界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20624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2194560"/>
          </a:xfrm>
          <a:prstGeom prst="rect">
            <a:avLst/>
          </a:prstGeom>
          <a:solidFill>
            <a:srgbClr val="3AAB8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正确性说明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投影保交（分离轴定理）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若A和B空间相交 → 任意轴投影必有重叠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逆否命题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某轴上投影不重叠 → 一定不相交 → 可安全排除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排序剪枝的正确性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基于不等式传递性，已排序列表上可安全跳过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21945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适用边界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645920"/>
          <a:ext cx="3657600" cy="1371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✓ 适合SAP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✗ 不适合SAP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对象数量大但碰撞对少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对象密集且大量重叠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帧间运动幅度小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对象瞬间大幅位移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对象尺寸相近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对象尺寸差异极大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65760" y="3474720"/>
            <a:ext cx="841248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474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SAP的威力在于变化少；变化越大，越接近暴力法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65760" y="411480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4114800"/>
            <a:ext cx="54864" cy="8229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历史来源：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Baraff (1992) 博士论文首次提出；Cohen et al. (1995) I-COLLIDE 系统化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GJK算法 —— 两体相交，以差判之，决于原点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005840" cy="274320"/>
          </a:xfrm>
          <a:prstGeom prst="rect">
            <a:avLst/>
          </a:prstGeom>
          <a:solidFill>
            <a:srgbClr val="3AAB8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迭代逼近法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63040"/>
            <a:ext cx="54864" cy="10972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Minkowski差定义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5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⊖ B = { a - b | a ∈ A, b ∈ B }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84124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743200"/>
            <a:ext cx="54864" cy="201168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关键等价关系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24688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5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004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∩ B ≠ 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⟺ 存在公共点 p ∈ A 且 p ∈ 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3200400"/>
            <a:ext cx="24688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91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32004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⟺ p - p = 0 ∈ A ⊖ 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0" y="3200400"/>
            <a:ext cx="24688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32004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⟺ 原点 ∈ A ⊖ 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核心转化：把两个物体是否相交转化为一个形状是否包含原点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GJK —— 取支、立形、决原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182880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支持点（Support Point）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沿给定方向在Minkowski差上最远的点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Support(A,B,d) = A沿d最远 - B沿-d最远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单纯形（Simplex）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线段(1D) → 三角形(2D) → 四面体(3D)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1828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三步流程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找新支持点 p = Support(A, B, 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若 p·d ≤ 0 → 不相交，返回 false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将 p 加入单纯形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更新单纯形和搜索方向：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包含原点 → 返回 true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否则 → 缩小方向，继续迭代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8412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108960"/>
            <a:ext cx="54864" cy="1828800"/>
          </a:xfrm>
          <a:prstGeom prst="rect">
            <a:avLst/>
          </a:prstGeom>
          <a:solidFill>
            <a:srgbClr val="3AAB8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伪代码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GJK(shapeA, shapeB):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dir = initialDirection()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simplex = [Support(shapeA, shapeB, dir)]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dir = -simplex[0]  // 方向指向原点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true: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 = Support(shapeA, shapeB, dir)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dot(p, dir) &lt;= 0: return false  // 不相交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simplex.append(p)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UpdateSimplex(simplex, ref dir):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true  // 单纯形包含原点 → 相交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GJK —— 复杂度分析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GJK 的迭代次数有常数上界：2D ≤ 3次，3D ≤ 4次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每对物体的判定时间取决于 Support 函数的代价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84124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011680"/>
            <a:ext cx="54864" cy="2011680"/>
          </a:xfrm>
          <a:prstGeom prst="rect">
            <a:avLst/>
          </a:prstGeom>
          <a:solidFill>
            <a:srgbClr val="2E5090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8046720" cy="18288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因素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代价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迭代次数（2D）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O(1)，最多3次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单纯形最多3个点（三角形）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迭代次数（3D）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O(1)，最多4次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单纯形最多4个点（四面体）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Support函数（朴素）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O(n)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遍历所有顶点找极值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Support函数（预处理）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O(log n)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凸体预排序后二分查找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增量模式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8913A"/>
                          </a:solidFill>
                        </a:rPr>
                        <a:t>接近O(1)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上一帧单纯形作起点，1-2次迭代收敛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4206240"/>
            <a:ext cx="84124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4206240"/>
            <a:ext cx="54864" cy="731520"/>
          </a:xfrm>
          <a:prstGeom prst="rect">
            <a:avLst/>
          </a:prstGeom>
          <a:solidFill>
            <a:srgbClr val="E8913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GJK —— 为什么这个算法是正确的？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100584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等价转化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∩ B ≠ ∅ ⟺ 原点 ∈ A ⊖ B（第10页已证）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86000"/>
            <a:ext cx="54864" cy="100584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单纯形逼近的收敛性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Support函数保证每次取的点在Minkowski差的边界上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Johnson距离子算法保证距离单调不增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有限维空间 + 距离单调不增 + 常数上界 → 必然收敛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8412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474720"/>
            <a:ext cx="54864" cy="1005840"/>
          </a:xfrm>
          <a:prstGeom prst="rect">
            <a:avLst/>
          </a:prstGeom>
          <a:solidFill>
            <a:srgbClr val="3AAB8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判定的完备性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返回 true：单纯形包含原点 → 原点在Minkowski差内 → 相交 ✓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返回 false：新支持点无法超越原点 → 整个Minkowski差在原点一侧 → 不相交 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不需要穷举所有顶点——每次只取最有利于逼近原点的点，这就是迭代贪心的力量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GJK 实例演示 —— 两个2D凸多边形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73152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正方形A</a:t>
            </a: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（中心在原点，边长2）：顶点 (-1,-1), (1,-1), (1,1), (-1,1）    </a:t>
            </a:r>
            <a:r>
              <a:rPr lang="en-US" sz="1000" b="1" dirty="0">
                <a:solidFill>
                  <a:srgbClr val="E8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正方形B</a:t>
            </a: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（中心在(1.5, 0)，边长2）：顶点 (0.5,-1), (2.5,-1), (2.5,1), (0.5,1)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011680"/>
          <a:ext cx="8412480" cy="2478024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步骤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操作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单纯形状态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搜索方向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取初始方向d=(1,0)</a:t>
                      </a:r>
                      <a:endParaRPr lang="en-US" sz="9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Support = (1,0)-(0.5,-1) = (0.5,1)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[(0.5,1)]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改为-(0.5,1)</a:t>
                      </a:r>
                      <a:endParaRPr lang="en-US" sz="9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= (-0.5,-1)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Support沿(-0.5,-1)</a:t>
                      </a:r>
                      <a:endParaRPr lang="en-US" sz="9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A最远=(-1,-1), B最远=(2.5,1)</a:t>
                      </a:r>
                      <a:endParaRPr lang="en-US" sz="9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差=(-3.5,-2)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[(0.5,1),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(-3.5,-2)]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线段，计算新方向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取新支持点</a:t>
                      </a:r>
                      <a:endParaRPr lang="en-US" sz="9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形成三角形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[(0.5,1),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(-3.5,-2),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新点]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检查原点</a:t>
                      </a:r>
                      <a:endParaRPr lang="en-US" sz="9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是否在三角形内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原点在三角形内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→ 返回 true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A ∩ B ≠ ∅ 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整个过程只用了3次Support调用，没有遍历任何物体的全部顶点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工业界怎么组合使用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小孩子才做选择，成熟的引擎什么都要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20116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引擎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粗筛方案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精算方案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特色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Unity (PhysX)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SAP / MBP / ABP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GJK + SAT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MBP适合静态多的场景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Unreal (Chaos)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多种空间加速结构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GJK + EPA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高度并行化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Box2D v3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动态AABB树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GJK + EPA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2D专精，开源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Bullet / Jolt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动态AABB树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GJK + EPA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Jolt被Godot 4内置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291840"/>
            <a:ext cx="8412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3291840"/>
            <a:ext cx="54864" cy="164592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关键结论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37490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四叉树更多用于逻辑层（AI感知、区域触发器），而非物理引擎核心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动态AABB树是工业界广泛采用的粗筛方案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GJK + EPA 是最常用的精算+穿透深度组合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真正的工程设计：按场景选结构，不是押宝单一算法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总结对比 —— 先快再准，先筛后算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34747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6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四叉树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SAP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GJK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B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定位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粗筛（空间索引）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粗筛（区间扫描）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精算（几何判定）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设计策略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分治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降维+时间局部性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迭代逼近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最好时间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O(n log n)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O(n)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O(1)增量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平均时间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O(n log n)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O(n+m)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O(n)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最坏时间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O(n²)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O(n²)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O(n)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空间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O(n)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O(n+p)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O(1)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强项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稀疏场景查询快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帧间连续性好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凸体判定精确高效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短板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高动态维护重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极端乱序退化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仅限凸体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先粗筛缩小范围，再精算得出结论——这就是碰撞检测流水线的设计哲学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拓展讨论 —— 从GJK出发的延伸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329184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方向一：EPA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GJK只能判定是否相交，不能给出穿透多深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EPA在GJK判定相交后，利用最终单纯形作为起点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核心：Minkowski差上距原点最近点 = 穿透方向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应用：物体被推开多少、往哪个方向推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97280"/>
            <a:ext cx="54864" cy="329184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方向二：连续碰撞检测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60020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离散检测：每个时间步检测一次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高速物体可能穿墙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CCD：沿运动轨迹做扫掠体检测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典型场景：子弹、高速赛车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97280"/>
            <a:ext cx="54864" cy="3291840"/>
          </a:xfrm>
          <a:prstGeom prst="rect">
            <a:avLst/>
          </a:prstGeom>
          <a:solidFill>
            <a:srgbClr val="3AAB8F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方向三：非凸体处理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160020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GJK只适用于凸体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实际游戏模型多为凹形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凸分解（Convex Decomposition）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V-HACD等算法将凹网格分解为多个凸体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GJK是起点，不是终点——从判定到响应、从离散到连续、从凸体到凹体，每一步都是新的算法问题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1554480"/>
            <a:ext cx="9144000" cy="36576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碰撞检测的核心设计哲学：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先粗筛再精算，用最小代价得到正确答案。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感谢聆听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solidFill>
            <a:srgbClr val="253A5E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9776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主要参考资料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Gilbert, Johnson, Keerthi (1988)  |  Cohen et al. (1995) I-COLLIDE  |  Baraff (1992)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den Bergen (2001)  |  Montanari et al. (2017)  |  Christer Ericson (2005) Real-Time Collision Detection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Erin Catto (2005-2019) GDC Talks  |  Lean Rada - Sort, sweep, and prune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小组成员分工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19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371600"/>
          <a:ext cx="6400800" cy="27432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成员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分工内容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5090"/>
                          </a:solidFill>
                        </a:rPr>
                        <a:t>曹涵兮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四叉树算法原理、伪代码与复杂度分析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5090"/>
                          </a:solidFill>
                        </a:rPr>
                        <a:t>徐子豪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SAP算法原理、帧间一致性分析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5090"/>
                          </a:solidFill>
                        </a:rPr>
                        <a:t>陈鼎亚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GJK算法原理、Minkowski差与正确性证明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5090"/>
                          </a:solidFill>
                        </a:rPr>
                        <a:t>刘昊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工业界应用调研、引擎对比分析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5090"/>
                          </a:solidFill>
                        </a:rPr>
                        <a:t>耿瑞林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实例演示、拓展讨论与PPT整合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谢谢大家！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1766</Words>
  <Application>Microsoft Office PowerPoint</Application>
  <PresentationFormat>全屏显示(16:9)</PresentationFormat>
  <Paragraphs>449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游戏中的碰撞检测算法 —— 从四叉树到GJK</dc:title>
  <dc:subject>PptxGenJS Presentation</dc:subject>
  <dc:creator>曹涵兮 徐子豪 陈鼎亚 刘昊 耿瑞林</dc:creator>
  <cp:lastModifiedBy>鼎亚 陈</cp:lastModifiedBy>
  <cp:revision>3</cp:revision>
  <dcterms:created xsi:type="dcterms:W3CDTF">2026-06-02T15:11:27Z</dcterms:created>
  <dcterms:modified xsi:type="dcterms:W3CDTF">2026-06-03T03:06:28Z</dcterms:modified>
</cp:coreProperties>
</file>